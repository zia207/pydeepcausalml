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64" r:id="rId2"/>
    <p:sldId id="265" r:id="rId3"/>
    <p:sldId id="266" r:id="rId4"/>
    <p:sldId id="275" r:id="rId5"/>
    <p:sldId id="276" r:id="rId6"/>
    <p:sldId id="267" r:id="rId7"/>
    <p:sldId id="268" r:id="rId8"/>
    <p:sldId id="269" r:id="rId9"/>
    <p:sldId id="277" r:id="rId10"/>
    <p:sldId id="278" r:id="rId11"/>
    <p:sldId id="279" r:id="rId12"/>
  </p:sldIdLst>
  <p:sldSz cx="10058400" cy="2743200"/>
  <p:notesSz cx="7772400" cy="10058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7" d="100"/>
          <a:sy n="147" d="100"/>
        </p:scale>
        <p:origin x="144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EC82C087-EF29-4EF6-83CE-F5A0913C76D4}" type="slidenum">
              <a:t>‹#›</a:t>
            </a:fld>
            <a:endParaRPr/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subTitle"/>
          </p:nvPr>
        </p:nvSpPr>
        <p:spPr>
          <a:xfrm>
            <a:off x="502920" y="641828"/>
            <a:ext cx="9052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2743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2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C97557BB-310B-4298-9EE5-03E477A33138}" type="slidenum">
              <a:t>‹#›</a:t>
            </a:fld>
            <a:endParaRPr/>
          </a:p>
        </p:txBody>
      </p:sp>
      <p:sp>
        <p:nvSpPr>
          <p:cNvPr id="3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8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9052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031686FD-B259-45FC-8762-A05EE6663C4B}" type="slidenum">
              <a:t>‹#›</a:t>
            </a:fld>
            <a:endParaRPr/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4417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/>
          </p:nvPr>
        </p:nvSpPr>
        <p:spPr>
          <a:xfrm>
            <a:off x="5141520" y="641828"/>
            <a:ext cx="4417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B712E5A-9A7F-4E15-B225-5276EECD780C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98066A9F-D67A-4AD1-9EEE-FD273E053730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PlaceHolder 1"/>
          <p:cNvSpPr>
            <a:spLocks noGrp="1"/>
          </p:cNvSpPr>
          <p:nvPr>
            <p:ph type="subTitle"/>
          </p:nvPr>
        </p:nvSpPr>
        <p:spPr>
          <a:xfrm>
            <a:off x="502920" y="109234"/>
            <a:ext cx="9052200" cy="2122354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2743" b="0" strike="noStrike" spc="-1"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1F88E12-70BC-4FEB-8791-BAC677D9BC4C}" type="slidenum">
              <a:t>‹#›</a:t>
            </a:fld>
            <a:endParaRPr/>
          </a:p>
        </p:txBody>
      </p:sp>
      <p:sp>
        <p:nvSpPr>
          <p:cNvPr id="5" name="PlaceHolder 4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15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16" name="PlaceHolder 3"/>
          <p:cNvSpPr>
            <a:spLocks noGrp="1"/>
          </p:cNvSpPr>
          <p:nvPr>
            <p:ph/>
          </p:nvPr>
        </p:nvSpPr>
        <p:spPr>
          <a:xfrm>
            <a:off x="5141520" y="641828"/>
            <a:ext cx="4417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17" name="PlaceHolder 4"/>
          <p:cNvSpPr>
            <a:spLocks noGrp="1"/>
          </p:cNvSpPr>
          <p:nvPr>
            <p:ph/>
          </p:nvPr>
        </p:nvSpPr>
        <p:spPr>
          <a:xfrm>
            <a:off x="502920" y="1472811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7774863B-2DC2-4E4E-B0D3-CD39E2B398F4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4417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/>
          </p:nvPr>
        </p:nvSpPr>
        <p:spPr>
          <a:xfrm>
            <a:off x="51415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/>
          </p:nvPr>
        </p:nvSpPr>
        <p:spPr>
          <a:xfrm>
            <a:off x="5141520" y="1472811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A020CCCD-3445-4F1F-BBDE-AAD967E4C44C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/>
          </p:nvPr>
        </p:nvSpPr>
        <p:spPr>
          <a:xfrm>
            <a:off x="51415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/>
          </p:nvPr>
        </p:nvSpPr>
        <p:spPr>
          <a:xfrm>
            <a:off x="502920" y="1472811"/>
            <a:ext cx="9052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6" name="PlaceHolder 5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7" name="PlaceHolder 6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2E21B407-516F-4232-8CD2-974F4211CC97}" type="slidenum">
              <a:t>‹#›</a:t>
            </a:fld>
            <a:endParaRPr/>
          </a:p>
        </p:txBody>
      </p:sp>
      <p:sp>
        <p:nvSpPr>
          <p:cNvPr id="8" name="PlaceHolder 7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9052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502920" y="1472811"/>
            <a:ext cx="9052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CD85838-EC9B-4B2D-9128-0D8157F4344F}" type="slidenum">
              <a:t>‹#›</a:t>
            </a:fld>
            <a:endParaRPr/>
          </a:p>
        </p:txBody>
      </p:sp>
      <p:sp>
        <p:nvSpPr>
          <p:cNvPr id="7" name="PlaceHolder 6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1" name="PlaceHolder 3"/>
          <p:cNvSpPr>
            <a:spLocks noGrp="1"/>
          </p:cNvSpPr>
          <p:nvPr>
            <p:ph/>
          </p:nvPr>
        </p:nvSpPr>
        <p:spPr>
          <a:xfrm>
            <a:off x="5141520" y="641828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2" name="PlaceHolder 4"/>
          <p:cNvSpPr>
            <a:spLocks noGrp="1"/>
          </p:cNvSpPr>
          <p:nvPr>
            <p:ph/>
          </p:nvPr>
        </p:nvSpPr>
        <p:spPr>
          <a:xfrm>
            <a:off x="502920" y="1472811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3" name="PlaceHolder 5"/>
          <p:cNvSpPr>
            <a:spLocks noGrp="1"/>
          </p:cNvSpPr>
          <p:nvPr>
            <p:ph/>
          </p:nvPr>
        </p:nvSpPr>
        <p:spPr>
          <a:xfrm>
            <a:off x="5141520" y="1472811"/>
            <a:ext cx="441720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7" name="PlaceHolder 6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8" name="PlaceHolder 7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851F6BC3-009C-473F-B405-DEE9DE713E42}" type="slidenum">
              <a:t>‹#›</a:t>
            </a:fld>
            <a:endParaRPr/>
          </a:p>
        </p:txBody>
      </p:sp>
      <p:sp>
        <p:nvSpPr>
          <p:cNvPr id="9" name="PlaceHolder 8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02920" y="70046"/>
            <a:ext cx="9052200" cy="53598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endParaRPr lang="en-US" sz="3771" b="0" strike="noStrike" spc="-1"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502920" y="641828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3563640" y="641828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7" name="PlaceHolder 4"/>
          <p:cNvSpPr>
            <a:spLocks noGrp="1"/>
          </p:cNvSpPr>
          <p:nvPr>
            <p:ph/>
          </p:nvPr>
        </p:nvSpPr>
        <p:spPr>
          <a:xfrm>
            <a:off x="6624360" y="641828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8" name="PlaceHolder 5"/>
          <p:cNvSpPr>
            <a:spLocks noGrp="1"/>
          </p:cNvSpPr>
          <p:nvPr>
            <p:ph/>
          </p:nvPr>
        </p:nvSpPr>
        <p:spPr>
          <a:xfrm>
            <a:off x="502920" y="1472811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39" name="PlaceHolder 6"/>
          <p:cNvSpPr>
            <a:spLocks noGrp="1"/>
          </p:cNvSpPr>
          <p:nvPr>
            <p:ph/>
          </p:nvPr>
        </p:nvSpPr>
        <p:spPr>
          <a:xfrm>
            <a:off x="3563640" y="1472811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40" name="PlaceHolder 7"/>
          <p:cNvSpPr>
            <a:spLocks noGrp="1"/>
          </p:cNvSpPr>
          <p:nvPr>
            <p:ph/>
          </p:nvPr>
        </p:nvSpPr>
        <p:spPr>
          <a:xfrm>
            <a:off x="6624360" y="1472811"/>
            <a:ext cx="2914560" cy="758469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97000"/>
          </a:bodyPr>
          <a:lstStyle/>
          <a:p>
            <a:endParaRPr lang="en-US" sz="2743" b="0" strike="noStrike" spc="-1">
              <a:latin typeface="Arial"/>
            </a:endParaRPr>
          </a:p>
        </p:txBody>
      </p:sp>
      <p:sp>
        <p:nvSpPr>
          <p:cNvPr id="9" name="PlaceHolder 8"/>
          <p:cNvSpPr>
            <a:spLocks noGrp="1"/>
          </p:cNvSpPr>
          <p:nvPr>
            <p:ph type="ftr" idx="1"/>
          </p:nvPr>
        </p:nvSpPr>
        <p:spPr/>
        <p:txBody>
          <a:bodyPr/>
          <a:lstStyle/>
          <a:p>
            <a:r>
              <a:t>Footer</a:t>
            </a:r>
          </a:p>
        </p:txBody>
      </p:sp>
      <p:sp>
        <p:nvSpPr>
          <p:cNvPr id="10" name="PlaceHolder 9"/>
          <p:cNvSpPr>
            <a:spLocks noGrp="1"/>
          </p:cNvSpPr>
          <p:nvPr>
            <p:ph type="sldNum" idx="2"/>
          </p:nvPr>
        </p:nvSpPr>
        <p:spPr/>
        <p:txBody>
          <a:bodyPr/>
          <a:lstStyle/>
          <a:p>
            <a:fld id="{BEF84817-C4B8-4F1E-901D-FB229BE3CA2C}" type="slidenum">
              <a:t>‹#›</a:t>
            </a:fld>
            <a:endParaRPr/>
          </a:p>
        </p:txBody>
      </p:sp>
      <p:sp>
        <p:nvSpPr>
          <p:cNvPr id="11" name="PlaceHolder 10"/>
          <p:cNvSpPr>
            <a:spLocks noGrp="1"/>
          </p:cNvSpPr>
          <p:nvPr>
            <p:ph type="dt" idx="3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ftr" idx="1"/>
          </p:nvPr>
        </p:nvSpPr>
        <p:spPr>
          <a:xfrm>
            <a:off x="3331440" y="2542320"/>
            <a:ext cx="3391920" cy="14410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ctr">
              <a:lnSpc>
                <a:spcPct val="100000"/>
              </a:lnSpc>
              <a:buNone/>
              <a:tabLst>
                <a:tab pos="0" algn="l"/>
              </a:tabLst>
              <a:defRPr lang="en-US" sz="1200" b="0" strike="noStrike" spc="-1">
                <a:solidFill>
                  <a:srgbClr val="000000"/>
                </a:solidFill>
                <a:latin typeface="Times New Roman"/>
              </a:defRPr>
            </a:lvl1pPr>
          </a:lstStyle>
          <a:p>
            <a:r>
              <a:rPr lang="en-US"/>
              <a:t>&lt;footer&gt;</a:t>
            </a:r>
          </a:p>
        </p:txBody>
      </p:sp>
      <p:sp>
        <p:nvSpPr>
          <p:cNvPr id="6" name="PlaceHolder 2"/>
          <p:cNvSpPr>
            <a:spLocks noGrp="1"/>
          </p:cNvSpPr>
          <p:nvPr>
            <p:ph type="sldNum" idx="2"/>
          </p:nvPr>
        </p:nvSpPr>
        <p:spPr>
          <a:xfrm>
            <a:off x="7103520" y="2542320"/>
            <a:ext cx="2260440" cy="14410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 algn="r">
              <a:lnSpc>
                <a:spcPct val="100000"/>
              </a:lnSpc>
              <a:buNone/>
              <a:tabLst>
                <a:tab pos="0" algn="l"/>
              </a:tabLst>
              <a:defRPr lang="en-US" sz="411" b="0" strike="noStrike" spc="-1">
                <a:solidFill>
                  <a:srgbClr val="8B8B8B"/>
                </a:solidFill>
                <a:latin typeface="Calibri"/>
              </a:defRPr>
            </a:lvl1pPr>
          </a:lstStyle>
          <a:p>
            <a:fld id="{76857AF3-8994-42BF-82BA-AD283436C9B1}" type="slidenum">
              <a:rPr lang="en-US" smtClean="0"/>
              <a:pPr/>
              <a:t>‹#›</a:t>
            </a:fld>
            <a:endParaRPr lang="en-US"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691200" y="2542320"/>
            <a:ext cx="2260440" cy="144103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ctr">
            <a:noAutofit/>
          </a:bodyPr>
          <a:lstStyle>
            <a:lvl1pPr>
              <a:defRPr lang="en-US" sz="1200" b="0" strike="noStrike" spc="-1">
                <a:latin typeface="Times New Roman"/>
              </a:defRPr>
            </a:lvl1pPr>
          </a:lstStyle>
          <a:p>
            <a:r>
              <a:rPr lang="en-US" sz="1200" b="0" strike="noStrike" spc="-1">
                <a:latin typeface="Times New Roman"/>
              </a:rPr>
              <a:t>&lt;date/time&gt;</a:t>
            </a: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502920" y="109235"/>
            <a:ext cx="9052200" cy="457611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algn="ctr">
              <a:buNone/>
            </a:pPr>
            <a:r>
              <a:rPr lang="en-US" sz="3771" b="0" strike="noStrike" spc="-1">
                <a:latin typeface="Arial"/>
              </a:rPr>
              <a:t>Click to edit the title text format</a:t>
            </a: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502920" y="641828"/>
            <a:ext cx="9052200" cy="1590686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 fontScale="67000"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743" b="0" strike="noStrike" spc="-1">
                <a:latin typeface="Arial"/>
              </a:rPr>
              <a:t>Click to edit the outline text format</a:t>
            </a:r>
          </a:p>
          <a:p>
            <a:pPr marL="740534" lvl="1" indent="-277700">
              <a:spcBef>
                <a:spcPts val="97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strike="noStrike" spc="-1">
                <a:latin typeface="Arial"/>
              </a:rPr>
              <a:t>Second Outline Level</a:t>
            </a:r>
          </a:p>
          <a:p>
            <a:pPr marL="1110802" lvl="2" indent="-246845">
              <a:spcBef>
                <a:spcPts val="729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57" b="0" strike="noStrike" spc="-1">
                <a:latin typeface="Arial"/>
              </a:rPr>
              <a:t>Third Outline Level</a:t>
            </a:r>
          </a:p>
          <a:p>
            <a:pPr marL="1481069" lvl="3" indent="-185134">
              <a:spcBef>
                <a:spcPts val="48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714" b="0" strike="noStrike" spc="-1">
                <a:latin typeface="Arial"/>
              </a:rPr>
              <a:t>Fourth Outline Level</a:t>
            </a:r>
          </a:p>
          <a:p>
            <a:pPr marL="1851336" lvl="4" indent="-185134">
              <a:spcBef>
                <a:spcPts val="24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714" b="0" strike="noStrike" spc="-1">
                <a:latin typeface="Arial"/>
              </a:rPr>
              <a:t>Fifth Outline Level</a:t>
            </a:r>
          </a:p>
          <a:p>
            <a:pPr marL="2221603" lvl="5" indent="-185134">
              <a:spcBef>
                <a:spcPts val="24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714" b="0" strike="noStrike" spc="-1">
                <a:latin typeface="Arial"/>
              </a:rPr>
              <a:t>Sixth Outline Level</a:t>
            </a:r>
          </a:p>
          <a:p>
            <a:pPr marL="2591870" lvl="6" indent="-185134">
              <a:spcBef>
                <a:spcPts val="24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714" b="0" strike="noStrike" spc="-1">
                <a:latin typeface="Arial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783732" rtl="0" eaLnBrk="1" latinLnBrk="0" hangingPunct="1">
        <a:lnSpc>
          <a:spcPct val="90000"/>
        </a:lnSpc>
        <a:spcBef>
          <a:spcPct val="0"/>
        </a:spcBef>
        <a:buNone/>
        <a:defRPr sz="377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70267" indent="-277700" algn="l" defTabSz="783732" rtl="0" eaLnBrk="1" latinLnBrk="0" hangingPunct="1">
        <a:lnSpc>
          <a:spcPct val="90000"/>
        </a:lnSpc>
        <a:spcBef>
          <a:spcPts val="1215"/>
        </a:spcBef>
        <a:buClr>
          <a:srgbClr val="000000"/>
        </a:buClr>
        <a:buSzPct val="45000"/>
        <a:buFont typeface="Wingdings" charset="2"/>
        <a:buChar char="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587799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2057" kern="1200">
          <a:solidFill>
            <a:schemeClr val="tx1"/>
          </a:solidFill>
          <a:latin typeface="+mn-lt"/>
          <a:ea typeface="+mn-ea"/>
          <a:cs typeface="+mn-cs"/>
        </a:defRPr>
      </a:lvl2pPr>
      <a:lvl3pPr marL="979665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714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1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4pPr>
      <a:lvl5pPr marL="1763398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5pPr>
      <a:lvl6pPr marL="2155264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6pPr>
      <a:lvl7pPr marL="2547130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7pPr>
      <a:lvl8pPr marL="2938996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8pPr>
      <a:lvl9pPr marL="3330862" indent="-195933" algn="l" defTabSz="783732" rtl="0" eaLnBrk="1" latinLnBrk="0" hangingPunct="1">
        <a:lnSpc>
          <a:spcPct val="90000"/>
        </a:lnSpc>
        <a:spcBef>
          <a:spcPts val="429"/>
        </a:spcBef>
        <a:buFont typeface="Arial" panose="020B0604020202020204" pitchFamily="34" charset="0"/>
        <a:buChar char="•"/>
        <a:defRPr sz="1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1pPr>
      <a:lvl2pPr marL="391866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2pPr>
      <a:lvl3pPr marL="783732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3pPr>
      <a:lvl4pPr marL="1175598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4pPr>
      <a:lvl5pPr marL="1567464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5pPr>
      <a:lvl6pPr marL="1959331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6pPr>
      <a:lvl7pPr marL="2351197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7pPr>
      <a:lvl8pPr marL="2743063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8pPr>
      <a:lvl9pPr marL="3134929" algn="l" defTabSz="783732" rtl="0" eaLnBrk="1" latinLnBrk="0" hangingPunct="1">
        <a:defRPr sz="1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2330957" y="60202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r>
              <a:rPr lang="en-US" sz="4114" spc="-1" dirty="0">
                <a:solidFill>
                  <a:srgbClr val="2E75B6"/>
                </a:solidFill>
                <a:latin typeface="Calibri Light"/>
                <a:ea typeface="DejaVu Sans"/>
              </a:rPr>
              <a:t>: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From Theory to Practice</a:t>
            </a:r>
            <a:endParaRPr lang="en-US" sz="1714" spc="-1" dirty="0">
              <a:latin typeface="Arial"/>
            </a:endParaRPr>
          </a:p>
        </p:txBody>
      </p:sp>
      <p:pic>
        <p:nvPicPr>
          <p:cNvPr id="79" name="Picture 78"/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6CFAF14A-967A-2956-7168-A28CD07710DA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2308097" y="629331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Randomized Controlled Trials (RCTs)</a:t>
            </a:r>
            <a:endParaRPr lang="en-US" sz="1714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5588154-6A5A-DA92-8264-27487C231030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5" name="Straight Connector 6">
            <a:extLst>
              <a:ext uri="{FF2B5EF4-FFF2-40B4-BE49-F238E27FC236}">
                <a16:creationId xmlns:a16="http://schemas.microsoft.com/office/drawing/2014/main" id="{14341355-FF2C-7A44-D098-9D8B3BC2D150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2323337" y="629331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Directed Acyclic Graphs (DAGs)</a:t>
            </a:r>
            <a:endParaRPr lang="en-US" sz="1714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C5DAA159-A158-4B94-4F6E-32AB674D1C6F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5" name="Straight Connector 6">
            <a:extLst>
              <a:ext uri="{FF2B5EF4-FFF2-40B4-BE49-F238E27FC236}">
                <a16:creationId xmlns:a16="http://schemas.microsoft.com/office/drawing/2014/main" id="{80AB1A61-D64B-30DD-7B09-DC63DDA2AB0E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83F3E3-3589-F294-24D9-13C885AD2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>
            <a:extLst>
              <a:ext uri="{FF2B5EF4-FFF2-40B4-BE49-F238E27FC236}">
                <a16:creationId xmlns:a16="http://schemas.microsoft.com/office/drawing/2014/main" id="{4B65C133-8502-A32E-3EC4-C8E27B1A91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3337" y="629331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1200" spc="-1" dirty="0">
                <a:solidFill>
                  <a:schemeClr val="accent1"/>
                </a:solidFill>
                <a:latin typeface="Calibri Light"/>
                <a:ea typeface="DejaVu Sans"/>
              </a:rPr>
              <a:t> </a:t>
            </a:r>
            <a:r>
              <a:rPr lang="en-US" sz="18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Potential Outcomes Framework</a:t>
            </a:r>
            <a:br>
              <a:rPr lang="en-US" dirty="0"/>
            </a:br>
            <a:endParaRPr lang="en-US" sz="1714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BC98ACC-88A3-D880-70E7-B15E5BF55EB4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5" name="Straight Connector 6">
            <a:extLst>
              <a:ext uri="{FF2B5EF4-FFF2-40B4-BE49-F238E27FC236}">
                <a16:creationId xmlns:a16="http://schemas.microsoft.com/office/drawing/2014/main" id="{414B26A3-C87B-C1FB-1C7B-DB55371B8BE8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  <p:extLst>
      <p:ext uri="{BB962C8B-B14F-4D97-AF65-F5344CB8AC3E}">
        <p14:creationId xmlns:p14="http://schemas.microsoft.com/office/powerpoint/2010/main" val="9332155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9E0A65-97E9-75D4-18FB-CCBAB4B946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>
            <a:extLst>
              <a:ext uri="{FF2B5EF4-FFF2-40B4-BE49-F238E27FC236}">
                <a16:creationId xmlns:a16="http://schemas.microsoft.com/office/drawing/2014/main" id="{11C9C9F9-7229-0B29-CCC7-6844864E71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3337" y="629331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1200" spc="-1" dirty="0">
                <a:solidFill>
                  <a:schemeClr val="accent1"/>
                </a:solidFill>
                <a:latin typeface="Calibri Light"/>
                <a:ea typeface="DejaVu Sans"/>
              </a:rPr>
              <a:t> </a:t>
            </a:r>
            <a:r>
              <a:rPr lang="en-US" sz="2000" dirty="0">
                <a:solidFill>
                  <a:schemeClr val="accent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Quasi-Experimentation</a:t>
            </a:r>
            <a:br>
              <a:rPr lang="en-US" dirty="0"/>
            </a:br>
            <a:endParaRPr lang="en-US" sz="1714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FFCF94-0920-5F44-BC40-2AC1FC733F46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5" name="Straight Connector 6">
            <a:extLst>
              <a:ext uri="{FF2B5EF4-FFF2-40B4-BE49-F238E27FC236}">
                <a16:creationId xmlns:a16="http://schemas.microsoft.com/office/drawing/2014/main" id="{30FECDC5-AE59-386F-FFA8-EEE2AC64AD05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  <p:extLst>
      <p:ext uri="{BB962C8B-B14F-4D97-AF65-F5344CB8AC3E}">
        <p14:creationId xmlns:p14="http://schemas.microsoft.com/office/powerpoint/2010/main" val="9828524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2330957" y="64600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Temporal Causal Inference</a:t>
            </a:r>
            <a:endParaRPr lang="en-US" sz="1714" spc="-1" dirty="0"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9F0034E3-D3BF-13EC-7513-CEE65E29A87D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5" name="Straight Connector 6">
            <a:extLst>
              <a:ext uri="{FF2B5EF4-FFF2-40B4-BE49-F238E27FC236}">
                <a16:creationId xmlns:a16="http://schemas.microsoft.com/office/drawing/2014/main" id="{F111B839-0022-6F04-70A3-52B994826401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2493895" y="702258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Causal Machine Learning</a:t>
            </a:r>
            <a:endParaRPr lang="en-US" sz="1714" spc="-1" dirty="0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931FF98D-222F-2363-5236-0A887390A343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CDD507FA-8371-6C2B-B09B-8D3B0403913C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/>
          <p:cNvSpPr>
            <a:spLocks noGrp="1"/>
          </p:cNvSpPr>
          <p:nvPr>
            <p:ph type="title"/>
          </p:nvPr>
        </p:nvSpPr>
        <p:spPr>
          <a:xfrm>
            <a:off x="2500381" y="64600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Causal Machine Learning</a:t>
            </a:r>
            <a:br>
              <a:rPr sz="4114" dirty="0"/>
            </a:b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</a:t>
            </a: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Tree-Based Models</a:t>
            </a:r>
            <a:endParaRPr lang="en-US" sz="1714" spc="-1" dirty="0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5F89CF0-44B9-833E-6A71-D65515CE0DD4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F63BE601-35CB-67F7-1AC4-D6D7D56762A7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8D22B3-0284-E9BE-3B7D-DB2EA9214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>
            <a:extLst>
              <a:ext uri="{FF2B5EF4-FFF2-40B4-BE49-F238E27FC236}">
                <a16:creationId xmlns:a16="http://schemas.microsoft.com/office/drawing/2014/main" id="{2032383C-C64A-C6F6-9158-B0DE0D3B3B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0381" y="64600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Causal Machine Learning</a:t>
            </a:r>
            <a:br>
              <a:rPr sz="4114" dirty="0"/>
            </a:b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Meta-Learners</a:t>
            </a:r>
            <a:endParaRPr lang="en-US" sz="1714" spc="-1" dirty="0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A60C08CD-2631-2716-78DE-CC0CEAE6936C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22CCD0A0-6159-96FC-DD31-B14901A5DC03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  <p:extLst>
      <p:ext uri="{BB962C8B-B14F-4D97-AF65-F5344CB8AC3E}">
        <p14:creationId xmlns:p14="http://schemas.microsoft.com/office/powerpoint/2010/main" val="18395209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2E3581-7EB8-74C4-3D92-612BB4F8F5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>
            <a:extLst>
              <a:ext uri="{FF2B5EF4-FFF2-40B4-BE49-F238E27FC236}">
                <a16:creationId xmlns:a16="http://schemas.microsoft.com/office/drawing/2014/main" id="{9DD4BD23-C2E3-2749-901D-0D64BEF177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0381" y="64600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Causal Machine Learning</a:t>
            </a:r>
            <a:br>
              <a:rPr sz="4114" dirty="0"/>
            </a:b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>
                <a:solidFill>
                  <a:srgbClr val="2E75B6"/>
                </a:solidFill>
                <a:latin typeface="Calibri Light"/>
                <a:ea typeface="DejaVu Sans"/>
              </a:rPr>
              <a:t> Uplift-Learners</a:t>
            </a:r>
            <a:endParaRPr lang="en-US" sz="1714" spc="-1" dirty="0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B8837E3-DB27-2D76-CF56-9F838FEC39B6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35A69BBB-DA0A-955C-514A-88CACD420714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  <p:extLst>
      <p:ext uri="{BB962C8B-B14F-4D97-AF65-F5344CB8AC3E}">
        <p14:creationId xmlns:p14="http://schemas.microsoft.com/office/powerpoint/2010/main" val="486394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CE12C7-A809-415C-1BEE-5203DB960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PlaceHolder 1">
            <a:extLst>
              <a:ext uri="{FF2B5EF4-FFF2-40B4-BE49-F238E27FC236}">
                <a16:creationId xmlns:a16="http://schemas.microsoft.com/office/drawing/2014/main" id="{291BE226-8F31-EB2C-3F8E-D6F485309A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00381" y="646003"/>
            <a:ext cx="6287451" cy="1484537"/>
          </a:xfrm>
          <a:prstGeom prst="rect">
            <a:avLst/>
          </a:prstGeom>
          <a:noFill/>
          <a:ln w="0">
            <a:noFill/>
          </a:ln>
        </p:spPr>
        <p:txBody>
          <a:bodyPr lIns="77143" tIns="38571" rIns="77143" bIns="38571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714" spc="-1" dirty="0">
                <a:solidFill>
                  <a:srgbClr val="2E75B6"/>
                </a:solidFill>
                <a:latin typeface="Calibri Light"/>
                <a:ea typeface="DejaVu Sans"/>
              </a:rPr>
              <a:t>Causal Machine Learning</a:t>
            </a:r>
            <a:br>
              <a:rPr sz="4114" dirty="0"/>
            </a:br>
            <a:r>
              <a:rPr lang="en-US" sz="4114" spc="-1" dirty="0">
                <a:solidFill>
                  <a:srgbClr val="005BBB"/>
                </a:solidFill>
                <a:latin typeface="Calibri Light"/>
                <a:ea typeface="DejaVu Sans"/>
              </a:rPr>
              <a:t>Causal Inference in Python</a:t>
            </a:r>
            <a:br>
              <a:rPr sz="2743" dirty="0"/>
            </a:br>
            <a:r>
              <a:rPr lang="en-US" sz="2743" spc="-1" dirty="0">
                <a:solidFill>
                  <a:srgbClr val="2E75B6"/>
                </a:solidFill>
                <a:latin typeface="Calibri Light"/>
                <a:ea typeface="DejaVu Sans"/>
              </a:rPr>
              <a:t> Double/Debiased ML</a:t>
            </a:r>
            <a:endParaRPr lang="en-US" sz="1714" spc="-1" dirty="0">
              <a:latin typeface="Arial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3158D0EC-7653-C85B-6D89-B6413FC7DAFD}"/>
              </a:ext>
            </a:extLst>
          </p:cNvPr>
          <p:cNvPicPr/>
          <p:nvPr/>
        </p:nvPicPr>
        <p:blipFill>
          <a:blip r:embed="rId2"/>
          <a:srcRect l="10879" t="12493" r="1601" b="446"/>
          <a:stretch/>
        </p:blipFill>
        <p:spPr>
          <a:xfrm>
            <a:off x="303251" y="528175"/>
            <a:ext cx="1831895" cy="1832705"/>
          </a:xfrm>
          <a:prstGeom prst="rect">
            <a:avLst/>
          </a:prstGeom>
          <a:ln w="0">
            <a:noFill/>
          </a:ln>
        </p:spPr>
      </p:pic>
      <p:sp>
        <p:nvSpPr>
          <p:cNvPr id="3" name="Straight Connector 6">
            <a:extLst>
              <a:ext uri="{FF2B5EF4-FFF2-40B4-BE49-F238E27FC236}">
                <a16:creationId xmlns:a16="http://schemas.microsoft.com/office/drawing/2014/main" id="{5271BF6A-00B5-8138-0F9D-F0BE6397DCF8}"/>
              </a:ext>
            </a:extLst>
          </p:cNvPr>
          <p:cNvSpPr/>
          <p:nvPr/>
        </p:nvSpPr>
        <p:spPr>
          <a:xfrm>
            <a:off x="2039546" y="646003"/>
            <a:ext cx="4937" cy="1280160"/>
          </a:xfrm>
          <a:custGeom>
            <a:avLst/>
            <a:gdLst/>
            <a:ahLst/>
            <a:cxnLst/>
            <a:rect l="l" t="t" r="r" b="b"/>
            <a:pathLst>
              <a:path w="21600" h="2160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noFill/>
          <a:ln w="45720">
            <a:solidFill>
              <a:srgbClr val="5B9BD5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/>
          <a:lstStyle/>
          <a:p>
            <a:endParaRPr lang="en-US" sz="1543"/>
          </a:p>
        </p:txBody>
      </p:sp>
    </p:spTree>
    <p:extLst>
      <p:ext uri="{BB962C8B-B14F-4D97-AF65-F5344CB8AC3E}">
        <p14:creationId xmlns:p14="http://schemas.microsoft.com/office/powerpoint/2010/main" val="10722295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2305</TotalTime>
  <Words>119</Words>
  <Application>Microsoft Office PowerPoint</Application>
  <PresentationFormat>Custom</PresentationFormat>
  <Paragraphs>11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8" baseType="lpstr"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Causal Inference in Python:  From Theory to Practice</vt:lpstr>
      <vt:lpstr>Causal Inference in Python  Randomized Controlled Trials (RCTs)</vt:lpstr>
      <vt:lpstr>Causal Inference in Python  Directed Acyclic Graphs (DAGs)</vt:lpstr>
      <vt:lpstr>Causal Inference in Python  Potential Outcomes Framework </vt:lpstr>
      <vt:lpstr>Causal Inference in Python  Quasi-Experimentation </vt:lpstr>
      <vt:lpstr>Causal Inference in Python  Temporal Causal Inference</vt:lpstr>
      <vt:lpstr>Causal Inference in Python  Causal Machine Learning</vt:lpstr>
      <vt:lpstr>Causal Machine Learning Causal Inference in Python  Tree-Based Models</vt:lpstr>
      <vt:lpstr>Causal Machine Learning Causal Inference in Python  Meta-Learners</vt:lpstr>
      <vt:lpstr>Causal Machine Learning Causal Inference in Python  Uplift-Learners</vt:lpstr>
      <vt:lpstr>Causal Machine Learning Causal Inference in Python  Double/Debiased ML</vt:lpstr>
    </vt:vector>
  </TitlesOfParts>
  <Company>University at Buffalo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Zia Ahmed</dc:creator>
  <dc:description/>
  <cp:lastModifiedBy>Zia Ahmed</cp:lastModifiedBy>
  <cp:revision>36</cp:revision>
  <dcterms:created xsi:type="dcterms:W3CDTF">2022-12-13T22:28:50Z</dcterms:created>
  <dcterms:modified xsi:type="dcterms:W3CDTF">2026-07-06T01:59:35Z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r8>8</vt:r8>
  </property>
</Properties>
</file>